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6" d="100"/>
          <a:sy n="106" d="100"/>
        </p:scale>
        <p:origin x="672"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7893262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9626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2871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292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9374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5414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720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5650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4360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229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0259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3103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2192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1465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5326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6685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r>
              <a:rPr lang="en-US" b="1" dirty="0"/>
              <a:t/>
            </a:r>
            <a:br>
              <a:rPr lang="en-US" b="1" dirty="0"/>
            </a:br>
            <a:endParaRPr dirty="0"/>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 and </a:t>
            </a:r>
            <a:r>
              <a:rPr lang="en-US" b="1" i="1" dirty="0" err="1"/>
              <a:t>LangFlow</a:t>
            </a:r>
            <a:r>
              <a:rPr lang="en-US" b="1" i="1" dirty="0" smtClean="0"/>
              <a:t>”</a:t>
            </a:r>
          </a:p>
          <a:p>
            <a:pPr lvl="0" algn="ctr"/>
            <a:r>
              <a:rPr lang="en-US" b="1" dirty="0"/>
              <a:t>The Daily Air Quality Action Agent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168600108"/>
              </p:ext>
            </p:extLst>
          </p:nvPr>
        </p:nvGraphicFramePr>
        <p:xfrm>
          <a:off x="1299257" y="2600315"/>
          <a:ext cx="9395000" cy="2167125"/>
        </p:xfrm>
        <a:graphic>
          <a:graphicData uri="http://schemas.openxmlformats.org/drawingml/2006/table">
            <a:tbl>
              <a:tblPr>
                <a:noFill/>
                <a:tableStyleId>{72DA409A-753F-43E9-88D9-1875949E996A}</a:tableStyleId>
              </a:tblPr>
              <a:tblGrid>
                <a:gridCol w="2064875">
                  <a:extLst>
                    <a:ext uri="{9D8B030D-6E8A-4147-A177-3AD203B41FA5}">
                      <a16:colId xmlns:a16="http://schemas.microsoft.com/office/drawing/2014/main" xmlns="" val="20000"/>
                    </a:ext>
                  </a:extLst>
                </a:gridCol>
                <a:gridCol w="2443375">
                  <a:extLst>
                    <a:ext uri="{9D8B030D-6E8A-4147-A177-3AD203B41FA5}">
                      <a16:colId xmlns:a16="http://schemas.microsoft.com/office/drawing/2014/main" xmlns="" val="20001"/>
                    </a:ext>
                  </a:extLst>
                </a:gridCol>
                <a:gridCol w="2443375">
                  <a:extLst>
                    <a:ext uri="{9D8B030D-6E8A-4147-A177-3AD203B41FA5}">
                      <a16:colId xmlns:a16="http://schemas.microsoft.com/office/drawing/2014/main" xmlns="" val="20002"/>
                    </a:ext>
                  </a:extLst>
                </a:gridCol>
                <a:gridCol w="2443375">
                  <a:extLst>
                    <a:ext uri="{9D8B030D-6E8A-4147-A177-3AD203B41FA5}">
                      <a16:colId xmlns:a16="http://schemas.microsoft.com/office/drawing/2014/main" xmlns=""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smtClean="0"/>
                        <a:t>SHERIN</a:t>
                      </a:r>
                      <a:r>
                        <a:rPr lang="en-IN" sz="1400" u="none" strike="noStrike" cap="none" baseline="0" dirty="0" smtClean="0"/>
                        <a:t> MARIAM JIJO</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smtClean="0"/>
                        <a:t>sherin.jijo@bvmengineering.ac.in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smtClean="0"/>
                        <a:t>8154815156</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Healthcare</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a:t>
            </a:r>
            <a:r>
              <a:rPr lang="en-US" sz="2400" b="1" dirty="0"/>
              <a:t>The Daily Air Quality Action Agent</a:t>
            </a:r>
            <a:endParaRPr sz="2400" b="1" i="0" u="none" strike="noStrike" cap="none" dirty="0">
              <a:solidFill>
                <a:srgbClr val="000000"/>
              </a:solidFill>
              <a:highlight>
                <a:srgbClr val="FFFF00"/>
              </a:highlight>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4005899" y="3710200"/>
            <a:ext cx="809625"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0607040" cy="5478382"/>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Problem Statement : </a:t>
            </a:r>
            <a:r>
              <a:rPr lang="en-US" b="1" dirty="0"/>
              <a:t>The Daily Air Quality Action Agent</a:t>
            </a:r>
            <a:endParaRPr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pPr lvl="0" algn="just"/>
            <a:r>
              <a:rPr lang="en-US" dirty="0"/>
              <a:t>Air pollution is a major public health crisis, contributing to respiratory issues, climate change, and reduced quality of life. Citizens often receive air quality index (AQI) data, but it is presented in technical formats, making it difficult to understand or translate into daily lifestyle actions. Traditional monitoring systems lack personalized recommendations and proactive alerts.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pPr lvl="0"/>
            <a:r>
              <a:rPr lang="en-US" dirty="0"/>
              <a:t>Build an AI-powered Daily Air Quality Action Agent that translates air quality data into actionable insights for citizens, policymakers, and organizations. The solution should:</a:t>
            </a:r>
          </a:p>
          <a:p>
            <a:pPr lvl="0"/>
            <a:r>
              <a:rPr lang="en-US" sz="1400" b="0" i="0" u="none" strike="noStrike" cap="none" dirty="0">
                <a:solidFill>
                  <a:srgbClr val="000000"/>
                </a:solidFill>
                <a:latin typeface="Arial"/>
                <a:ea typeface="Arial"/>
                <a:cs typeface="Arial"/>
                <a:sym typeface="Arial"/>
              </a:rPr>
              <a:t> </a:t>
            </a:r>
            <a:endParaRPr dirty="0"/>
          </a:p>
          <a:p>
            <a:pPr marL="285750" lvl="0" indent="-285750">
              <a:buSzPts val="1400"/>
              <a:buFont typeface="Arial"/>
              <a:buChar char="•"/>
            </a:pPr>
            <a:r>
              <a:rPr lang="en-US" b="1" dirty="0"/>
              <a:t>AQI Data Retrieval (RAG) </a:t>
            </a:r>
            <a:r>
              <a:rPr lang="en-US" dirty="0"/>
              <a:t>– Collect and interpret real-time AQI from public APIs, satellite data, or government sources.</a:t>
            </a:r>
            <a:r>
              <a:rPr lang="en-US" sz="1400" i="0" u="none" strike="noStrike" cap="none" dirty="0">
                <a:solidFill>
                  <a:srgbClr val="000000"/>
                </a:solidFill>
                <a:latin typeface="Arial"/>
                <a:ea typeface="Arial"/>
                <a:cs typeface="Arial"/>
                <a:sym typeface="Arial"/>
              </a:rPr>
              <a:t> </a:t>
            </a:r>
            <a:endParaRPr dirty="0"/>
          </a:p>
          <a:p>
            <a:pPr marL="285750" lvl="0" indent="-285750">
              <a:buSzPts val="1400"/>
              <a:buFont typeface="Arial"/>
              <a:buChar char="•"/>
            </a:pPr>
            <a:r>
              <a:rPr lang="en-US" b="1" dirty="0"/>
              <a:t>Personalized Health Recommendations – </a:t>
            </a:r>
            <a:r>
              <a:rPr lang="en-US" dirty="0"/>
              <a:t>Provide daily actionable advice (e.g., avoid outdoor exercise, use masks, keep children indoors) tailored to age, location, and </a:t>
            </a:r>
            <a:r>
              <a:rPr lang="en-US" dirty="0" err="1"/>
              <a:t>healthconditions</a:t>
            </a:r>
            <a:r>
              <a:rPr lang="en-US" dirty="0"/>
              <a:t>.</a:t>
            </a:r>
          </a:p>
          <a:p>
            <a:pPr marL="285750" lvl="0" indent="-285750">
              <a:buSzPts val="1400"/>
              <a:buFont typeface="Arial"/>
              <a:buChar char="•"/>
            </a:pPr>
            <a:r>
              <a:rPr lang="en-US" b="1" dirty="0"/>
              <a:t>Predictive Alerts – </a:t>
            </a:r>
            <a:r>
              <a:rPr lang="en-US" dirty="0"/>
              <a:t>Forecast poor air quality days, issue early warnings, and suggest preventive measures like adjusting commute or using air purifiers.</a:t>
            </a:r>
          </a:p>
          <a:p>
            <a:pPr marL="285750" lvl="0" indent="-285750">
              <a:buSzPts val="1400"/>
              <a:buFont typeface="Arial"/>
              <a:buChar char="•"/>
            </a:pPr>
            <a:r>
              <a:rPr lang="en-US" b="1" dirty="0"/>
              <a:t>Policy &amp; Awareness Insights – </a:t>
            </a:r>
            <a:r>
              <a:rPr lang="en-US" dirty="0"/>
              <a:t>Suggest community-level actions (e.g., carpooling, waste reduction) and summarize policy advisories for public awareness</a:t>
            </a:r>
            <a:r>
              <a:rPr lang="en-US" b="1" dirty="0"/>
              <a:t>.</a:t>
            </a:r>
          </a:p>
          <a:p>
            <a:pPr marL="285750" lvl="0" indent="-285750">
              <a:buSzPts val="1400"/>
              <a:buFont typeface="Arial"/>
              <a:buChar char="•"/>
            </a:pPr>
            <a:r>
              <a:rPr lang="en-US" b="1" dirty="0"/>
              <a:t>Multi-Agent System -</a:t>
            </a:r>
          </a:p>
          <a:p>
            <a:pPr marL="285750" lvl="8" indent="-285750">
              <a:buSzPts val="1400"/>
              <a:buFont typeface="Wingdings" panose="05000000000000000000" pitchFamily="2" charset="2"/>
              <a:buChar char="v"/>
            </a:pPr>
            <a:r>
              <a:rPr lang="en-US" b="1" dirty="0"/>
              <a:t>AQI Data Agent (fetches &amp; interprets data)</a:t>
            </a:r>
          </a:p>
          <a:p>
            <a:pPr marL="285750" lvl="8" indent="-285750">
              <a:buSzPts val="1400"/>
              <a:buFont typeface="Wingdings" panose="05000000000000000000" pitchFamily="2" charset="2"/>
              <a:buChar char="v"/>
            </a:pPr>
            <a:r>
              <a:rPr lang="en-US" b="1" dirty="0"/>
              <a:t>Health Advisory Agent (personalized lifestyle suggestions)</a:t>
            </a:r>
          </a:p>
          <a:p>
            <a:pPr marL="285750" lvl="8" indent="-285750">
              <a:buSzPts val="1400"/>
              <a:buFont typeface="Wingdings" panose="05000000000000000000" pitchFamily="2" charset="2"/>
              <a:buChar char="v"/>
            </a:pPr>
            <a:r>
              <a:rPr lang="en-US" b="1" dirty="0"/>
              <a:t>Forecasting Agent (predicts trends &amp; risks)</a:t>
            </a:r>
          </a:p>
          <a:p>
            <a:pPr marL="285750" lvl="8" indent="-285750">
              <a:buSzPts val="1400"/>
              <a:buFont typeface="Wingdings" panose="05000000000000000000" pitchFamily="2" charset="2"/>
              <a:buChar char="v"/>
            </a:pPr>
            <a:r>
              <a:rPr lang="en-US" b="1" dirty="0"/>
              <a:t>Community Action Agent (drives awareness campaigns)</a:t>
            </a:r>
            <a:endParaRPr dirty="0"/>
          </a:p>
          <a:p>
            <a:pPr marL="285750" lvl="0" indent="-285750">
              <a:buSzPts val="1400"/>
              <a:buFont typeface="Arial"/>
              <a:buChar char="•"/>
            </a:pPr>
            <a:r>
              <a:rPr lang="en-US" b="1" dirty="0"/>
              <a:t>Visualization Dashboard – </a:t>
            </a:r>
            <a:r>
              <a:rPr lang="en-US" dirty="0"/>
              <a:t>Show daily AQI levels, risk alerts, and recommended actions in a clear and interactive format.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2585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(Mandatory)</a:t>
            </a:r>
            <a:r>
              <a:rPr lang="en-US" sz="3600" b="0" i="0" u="none" strike="noStrike" cap="none" dirty="0">
                <a:solidFill>
                  <a:srgbClr val="000000"/>
                </a:solidFill>
                <a:latin typeface="Arial"/>
                <a:ea typeface="Arial"/>
                <a:cs typeface="Arial"/>
                <a:sym typeface="Arial"/>
              </a:rPr>
              <a:t> </a:t>
            </a:r>
            <a:endParaRPr sz="3600" dirty="0"/>
          </a:p>
          <a:p>
            <a:pPr lvl="0"/>
            <a:r>
              <a:rPr lang="en-US" sz="2000" b="0" i="0" u="none" strike="noStrike" cap="none" dirty="0">
                <a:solidFill>
                  <a:srgbClr val="000000"/>
                </a:solidFill>
                <a:sym typeface="Arial"/>
              </a:rPr>
              <a:t>I used </a:t>
            </a:r>
            <a:r>
              <a:rPr lang="en-US" sz="2000" b="0" i="0" u="none" strike="noStrike" cap="none" dirty="0" err="1">
                <a:solidFill>
                  <a:srgbClr val="000000"/>
                </a:solidFill>
                <a:sym typeface="Arial"/>
              </a:rPr>
              <a:t>LangFlow</a:t>
            </a:r>
            <a:r>
              <a:rPr lang="en-US" sz="2000" b="0" i="0" u="none" strike="noStrike" cap="none" dirty="0">
                <a:solidFill>
                  <a:srgbClr val="000000"/>
                </a:solidFill>
                <a:sym typeface="Arial"/>
              </a:rPr>
              <a:t> + IBM watsonx.ai + Granite </a:t>
            </a:r>
            <a:r>
              <a:rPr lang="en-US" sz="2000" b="0" i="0" u="none" strike="noStrike" cap="none" dirty="0" smtClean="0">
                <a:solidFill>
                  <a:srgbClr val="000000"/>
                </a:solidFill>
                <a:sym typeface="Arial"/>
              </a:rPr>
              <a:t>Models(</a:t>
            </a:r>
            <a:r>
              <a:rPr lang="en-IN" sz="2000" dirty="0"/>
              <a:t>granite-4.0-8b-instruct)</a:t>
            </a:r>
            <a:r>
              <a:rPr lang="en-US" sz="2000" b="0" i="0" u="none" strike="noStrike" cap="none" dirty="0">
                <a:solidFill>
                  <a:srgbClr val="000000"/>
                </a:solidFill>
                <a:sym typeface="Arial"/>
              </a:rPr>
              <a:t> </a:t>
            </a:r>
            <a:endParaRPr sz="20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US" b="1" dirty="0"/>
              <a:t>Proposed Solution: AI-Powered Daily Air Quality Action Agent</a:t>
            </a:r>
          </a:p>
          <a:p>
            <a:r>
              <a:rPr lang="en-US" dirty="0"/>
              <a:t>The proposed solution is a </a:t>
            </a:r>
            <a:r>
              <a:rPr lang="en-US" b="1" dirty="0"/>
              <a:t>multi-agent AI system</a:t>
            </a:r>
            <a:r>
              <a:rPr lang="en-US" dirty="0"/>
              <a:t> built using </a:t>
            </a:r>
            <a:r>
              <a:rPr lang="en-US" b="1" dirty="0" err="1"/>
              <a:t>LangFlow</a:t>
            </a:r>
            <a:r>
              <a:rPr lang="en-US" b="1" dirty="0"/>
              <a:t>, IBM watsonx.ai, and Granite Models</a:t>
            </a:r>
            <a:r>
              <a:rPr lang="en-US" dirty="0"/>
              <a:t> to transform real-time air quality data into personalized health recommendations and actionable insights.</a:t>
            </a:r>
          </a:p>
          <a:p>
            <a:r>
              <a:rPr lang="en-US" b="1" dirty="0"/>
              <a:t>Key Agents:</a:t>
            </a:r>
          </a:p>
          <a:p>
            <a:r>
              <a:rPr lang="en-US" b="1" dirty="0"/>
              <a:t>AQI Data Agent:</a:t>
            </a:r>
            <a:r>
              <a:rPr lang="en-US" dirty="0"/>
              <a:t> Retrieves and interprets AQI data from APIs, satellite, and government sources using RAG.</a:t>
            </a:r>
          </a:p>
          <a:p>
            <a:r>
              <a:rPr lang="en-US" b="1" dirty="0"/>
              <a:t>Health Advisory Agent:</a:t>
            </a:r>
            <a:r>
              <a:rPr lang="en-US" dirty="0"/>
              <a:t> Provides personalized recommendations based on age, location, and health conditions.</a:t>
            </a:r>
          </a:p>
          <a:p>
            <a:r>
              <a:rPr lang="en-US" b="1" dirty="0"/>
              <a:t>Forecasting Agent:</a:t>
            </a:r>
            <a:r>
              <a:rPr lang="en-US" dirty="0"/>
              <a:t> Predicts air quality trends and issues early warnings with preventive measures.</a:t>
            </a:r>
          </a:p>
          <a:p>
            <a:r>
              <a:rPr lang="en-US" b="1" dirty="0"/>
              <a:t>Community Action Agent:</a:t>
            </a:r>
            <a:r>
              <a:rPr lang="en-US" dirty="0"/>
              <a:t> Promotes awareness through policy summaries and community-level environmental actions.</a:t>
            </a:r>
          </a:p>
          <a:p>
            <a:r>
              <a:rPr lang="en-US" b="1" dirty="0"/>
              <a:t>Dashboard Features:</a:t>
            </a:r>
            <a:endParaRPr lang="en-US" dirty="0"/>
          </a:p>
          <a:p>
            <a:r>
              <a:rPr lang="en-US" dirty="0"/>
              <a:t>Real-time AQI monitoring</a:t>
            </a:r>
          </a:p>
          <a:p>
            <a:r>
              <a:rPr lang="en-US" dirty="0"/>
              <a:t>Risk alerts and forecasts</a:t>
            </a:r>
          </a:p>
          <a:p>
            <a:r>
              <a:rPr lang="en-US" dirty="0"/>
              <a:t>Personalized recommendations</a:t>
            </a:r>
          </a:p>
          <a:p>
            <a:r>
              <a:rPr lang="en-US" dirty="0"/>
              <a:t>Interactive maps and visualizations</a:t>
            </a:r>
          </a:p>
          <a:p>
            <a:r>
              <a:rPr lang="en-US" b="1" dirty="0"/>
              <a:t>Technology Stack:</a:t>
            </a:r>
            <a:r>
              <a:rPr lang="en-US" dirty="0"/>
              <a:t> </a:t>
            </a:r>
            <a:r>
              <a:rPr lang="en-US" dirty="0" err="1"/>
              <a:t>LangFlow</a:t>
            </a:r>
            <a:r>
              <a:rPr lang="en-US" dirty="0"/>
              <a:t> | IBM watsonx.ai | Granite Models | Vector Database | </a:t>
            </a:r>
            <a:r>
              <a:rPr lang="en-US" dirty="0" err="1"/>
              <a:t>Streamlit</a:t>
            </a:r>
            <a:r>
              <a:rPr lang="en-US" dirty="0"/>
              <a:t>/React</a:t>
            </a:r>
          </a:p>
          <a:p>
            <a:r>
              <a:rPr lang="en-US" b="1" dirty="0"/>
              <a:t>Outcome:</a:t>
            </a:r>
            <a:r>
              <a:rPr lang="en-US" dirty="0"/>
              <a:t> An intelligent air quality assistant that enables proactive health protection, environmental awareness, and informed decision-making.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332394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IN" dirty="0" smtClean="0"/>
              <a:t>Chat </a:t>
            </a:r>
            <a:r>
              <a:rPr lang="en-IN" dirty="0"/>
              <a:t>Input</a:t>
            </a:r>
          </a:p>
          <a:p>
            <a:pPr marL="342900" indent="-342900">
              <a:buFont typeface="+mj-lt"/>
              <a:buAutoNum type="arabicPeriod"/>
            </a:pPr>
            <a:r>
              <a:rPr lang="en-IN" dirty="0" smtClean="0"/>
              <a:t>IBM </a:t>
            </a:r>
            <a:r>
              <a:rPr lang="en-IN" dirty="0"/>
              <a:t>watsonx.ai Agent</a:t>
            </a:r>
          </a:p>
          <a:p>
            <a:pPr marL="342900" indent="-342900">
              <a:buFont typeface="+mj-lt"/>
              <a:buAutoNum type="arabicPeriod"/>
            </a:pPr>
            <a:r>
              <a:rPr lang="en-IN" dirty="0" smtClean="0"/>
              <a:t>IBM </a:t>
            </a:r>
            <a:r>
              <a:rPr lang="en-IN" dirty="0"/>
              <a:t>Granite Model (granite-4.0-8b-instruct)</a:t>
            </a:r>
          </a:p>
          <a:p>
            <a:pPr marL="342900" indent="-342900">
              <a:buFont typeface="+mj-lt"/>
              <a:buAutoNum type="arabicPeriod"/>
            </a:pPr>
            <a:r>
              <a:rPr lang="en-IN" dirty="0" smtClean="0"/>
              <a:t>AQI </a:t>
            </a:r>
            <a:r>
              <a:rPr lang="en-IN" dirty="0"/>
              <a:t>Data Retrieval Component</a:t>
            </a:r>
          </a:p>
          <a:p>
            <a:pPr marL="342900" indent="-342900">
              <a:buFont typeface="+mj-lt"/>
              <a:buAutoNum type="arabicPeriod"/>
            </a:pPr>
            <a:r>
              <a:rPr lang="en-IN" dirty="0" smtClean="0"/>
              <a:t>Vector </a:t>
            </a:r>
            <a:r>
              <a:rPr lang="en-IN" dirty="0"/>
              <a:t>Database</a:t>
            </a:r>
          </a:p>
          <a:p>
            <a:pPr marL="342900" indent="-342900">
              <a:buFont typeface="+mj-lt"/>
              <a:buAutoNum type="arabicPeriod"/>
            </a:pPr>
            <a:r>
              <a:rPr lang="en-IN" dirty="0" smtClean="0"/>
              <a:t>Chat </a:t>
            </a:r>
            <a:r>
              <a:rPr lang="en-IN" dirty="0"/>
              <a:t>Output</a:t>
            </a:r>
          </a:p>
          <a:p>
            <a:pPr marL="342900" indent="-342900">
              <a:buFont typeface="+mj-lt"/>
              <a:buAutoNum type="arabicPeriod"/>
            </a:pPr>
            <a:r>
              <a:rPr lang="en-IN" dirty="0" smtClean="0"/>
              <a:t>Dashboard </a:t>
            </a:r>
            <a:r>
              <a:rPr lang="en-IN" dirty="0"/>
              <a:t>Integration</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p:cNvPicPr>
            <a:picLocks noChangeAspect="1"/>
          </p:cNvPicPr>
          <p:nvPr/>
        </p:nvPicPr>
        <p:blipFill>
          <a:blip r:embed="rId3"/>
          <a:stretch>
            <a:fillRect/>
          </a:stretch>
        </p:blipFill>
        <p:spPr>
          <a:xfrm>
            <a:off x="1090612" y="1122629"/>
            <a:ext cx="10010775" cy="50019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697" y="660902"/>
            <a:ext cx="10058400" cy="52305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2031285"/>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Role of Agentic AI in </a:t>
            </a:r>
            <a:r>
              <a:rPr lang="en-IN" b="1" dirty="0"/>
              <a:t>The Daily Air Quality Action Agent</a:t>
            </a:r>
            <a:endParaRPr lang="en-IN" dirty="0"/>
          </a:p>
          <a:p>
            <a:r>
              <a:rPr lang="en-IN" dirty="0" smtClean="0"/>
              <a:t>Agentic </a:t>
            </a:r>
            <a:r>
              <a:rPr lang="en-IN" dirty="0"/>
              <a:t>AI enables autonomous coordination among specialized agents.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AQI </a:t>
            </a:r>
            <a:r>
              <a:rPr lang="en-IN" dirty="0"/>
              <a:t>Data Agent interprets environmental data.</a:t>
            </a:r>
          </a:p>
          <a:p>
            <a:pPr marL="285750" indent="-285750">
              <a:buFont typeface="Arial" panose="020B0604020202020204" pitchFamily="34" charset="0"/>
              <a:buChar char="•"/>
            </a:pPr>
            <a:r>
              <a:rPr lang="en-IN" dirty="0" smtClean="0"/>
              <a:t>Health </a:t>
            </a:r>
            <a:r>
              <a:rPr lang="en-IN" dirty="0"/>
              <a:t>Advisory Agent provides personalized guidance.</a:t>
            </a:r>
          </a:p>
          <a:p>
            <a:pPr marL="285750" indent="-285750">
              <a:buFont typeface="Arial" panose="020B0604020202020204" pitchFamily="34" charset="0"/>
              <a:buChar char="•"/>
            </a:pPr>
            <a:r>
              <a:rPr lang="en-IN" dirty="0" smtClean="0"/>
              <a:t>Forecasting </a:t>
            </a:r>
            <a:r>
              <a:rPr lang="en-IN" dirty="0"/>
              <a:t>Agent predicts AQI trends.</a:t>
            </a:r>
          </a:p>
          <a:p>
            <a:pPr marL="285750" indent="-285750">
              <a:buFont typeface="Arial" panose="020B0604020202020204" pitchFamily="34" charset="0"/>
              <a:buChar char="•"/>
            </a:pPr>
            <a:r>
              <a:rPr lang="en-IN" dirty="0" smtClean="0"/>
              <a:t>Community </a:t>
            </a:r>
            <a:r>
              <a:rPr lang="en-IN" dirty="0"/>
              <a:t>Action Agent drives awareness and sustainability </a:t>
            </a:r>
            <a:r>
              <a:rPr lang="en-IN" dirty="0" smtClean="0"/>
              <a:t>actions.</a:t>
            </a:r>
          </a:p>
          <a:p>
            <a:pPr marL="285750" indent="-285750">
              <a:buFont typeface="Arial" panose="020B0604020202020204" pitchFamily="34" charset="0"/>
              <a:buChar char="•"/>
            </a:pPr>
            <a:r>
              <a:rPr lang="en-IN" dirty="0" smtClean="0"/>
              <a:t>Together </a:t>
            </a:r>
            <a:r>
              <a:rPr lang="en-IN" dirty="0"/>
              <a:t>they create proactive and context-aware recommendations.</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2739171"/>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a:buChar char="•"/>
            </a:pPr>
            <a:r>
              <a:rPr lang="en-US" sz="1800" dirty="0" err="1" smtClean="0"/>
              <a:t>LangFlow</a:t>
            </a:r>
            <a:r>
              <a:rPr lang="en-US" sz="1800" dirty="0" smtClean="0"/>
              <a:t> </a:t>
            </a:r>
            <a:r>
              <a:rPr lang="en-US" sz="1800" dirty="0"/>
              <a:t>– Multi-agent orchestration</a:t>
            </a:r>
          </a:p>
          <a:p>
            <a:pPr marL="285750" lvl="0" indent="-285750">
              <a:buSzPts val="1800"/>
              <a:buFont typeface="Arial"/>
              <a:buChar char="•"/>
            </a:pPr>
            <a:r>
              <a:rPr lang="en-US" sz="1800" dirty="0" smtClean="0"/>
              <a:t>IBM </a:t>
            </a:r>
            <a:r>
              <a:rPr lang="en-US" sz="1800" dirty="0"/>
              <a:t>watsonx.ai – Model deployment &amp; governance</a:t>
            </a:r>
          </a:p>
          <a:p>
            <a:pPr marL="285750" lvl="0" indent="-285750">
              <a:buSzPts val="1800"/>
              <a:buFont typeface="Arial"/>
              <a:buChar char="•"/>
            </a:pPr>
            <a:r>
              <a:rPr lang="en-US" sz="1800" dirty="0" smtClean="0"/>
              <a:t>IBM </a:t>
            </a:r>
            <a:r>
              <a:rPr lang="en-US" sz="1800" dirty="0"/>
              <a:t>Granite Models – Reasoning &amp; recommendations</a:t>
            </a:r>
          </a:p>
          <a:p>
            <a:pPr marL="285750" lvl="0" indent="-285750">
              <a:buSzPts val="1800"/>
              <a:buFont typeface="Arial"/>
              <a:buChar char="•"/>
            </a:pPr>
            <a:r>
              <a:rPr lang="en-US" sz="1800" dirty="0" smtClean="0"/>
              <a:t>RAG </a:t>
            </a:r>
            <a:r>
              <a:rPr lang="en-US" sz="1800" dirty="0"/>
              <a:t>– Reliable AQI knowledge retrieval</a:t>
            </a:r>
          </a:p>
          <a:p>
            <a:pPr marL="285750" lvl="0" indent="-285750">
              <a:buSzPts val="1800"/>
              <a:buFont typeface="Arial"/>
              <a:buChar char="•"/>
            </a:pPr>
            <a:r>
              <a:rPr lang="en-US" sz="1800" dirty="0" smtClean="0"/>
              <a:t>FAISS/Chroma </a:t>
            </a:r>
            <a:r>
              <a:rPr lang="en-US" sz="1800" dirty="0"/>
              <a:t>– Vector storage</a:t>
            </a:r>
          </a:p>
          <a:p>
            <a:pPr marL="285750" lvl="0" indent="-285750">
              <a:buSzPts val="1800"/>
              <a:buFont typeface="Arial"/>
              <a:buChar char="•"/>
            </a:pPr>
            <a:r>
              <a:rPr lang="en-US" sz="1800" dirty="0" err="1" smtClean="0"/>
              <a:t>Streamlit</a:t>
            </a:r>
            <a:r>
              <a:rPr lang="en-US" sz="1800" dirty="0" smtClean="0"/>
              <a:t> </a:t>
            </a:r>
            <a:r>
              <a:rPr lang="en-US" sz="1800" dirty="0"/>
              <a:t>– Visualization dashboard</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smtClean="0">
                <a:solidFill>
                  <a:srgbClr val="000000"/>
                </a:solidFill>
                <a:latin typeface="Arial"/>
                <a:ea typeface="Arial"/>
                <a:cs typeface="Arial"/>
                <a:sym typeface="Arial"/>
              </a:rPr>
              <a:t>12,985 </a:t>
            </a:r>
            <a:r>
              <a:rPr lang="en-US" sz="1400" b="0" i="0" u="none" strike="noStrike" cap="none" dirty="0">
                <a:solidFill>
                  <a:srgbClr val="000000"/>
                </a:solidFill>
                <a:latin typeface="Arial"/>
                <a:ea typeface="Arial"/>
                <a:cs typeface="Arial"/>
                <a:sym typeface="Arial"/>
              </a:rPr>
              <a:t>token are used</a:t>
            </a:r>
            <a:endParaRPr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421" y="1560945"/>
            <a:ext cx="5227143" cy="3048000"/>
          </a:xfrm>
          <a:prstGeom prst="rect">
            <a:avLst/>
          </a:prstGeom>
        </p:spPr>
      </p:pic>
      <p:pic>
        <p:nvPicPr>
          <p:cNvPr id="4" name="Picture 3"/>
          <p:cNvPicPr>
            <a:picLocks noChangeAspect="1"/>
          </p:cNvPicPr>
          <p:nvPr/>
        </p:nvPicPr>
        <p:blipFill>
          <a:blip r:embed="rId4"/>
          <a:stretch>
            <a:fillRect/>
          </a:stretch>
        </p:blipFill>
        <p:spPr>
          <a:xfrm>
            <a:off x="6530109" y="1349910"/>
            <a:ext cx="4490315" cy="30455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61" name="Google Shape;161;p41"/>
          <p:cNvSpPr txBox="1"/>
          <p:nvPr/>
        </p:nvSpPr>
        <p:spPr>
          <a:xfrm>
            <a:off x="777240" y="1207008"/>
            <a:ext cx="11301984" cy="25237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285750" indent="-285750">
              <a:buFont typeface="Arial" panose="020B0604020202020204" pitchFamily="34" charset="0"/>
              <a:buChar char="•"/>
            </a:pPr>
            <a:r>
              <a:rPr lang="en-IN" sz="1800" dirty="0"/>
              <a:t>Multi-Agent AI architecture</a:t>
            </a:r>
          </a:p>
          <a:p>
            <a:pPr marL="285750" indent="-285750">
              <a:buFont typeface="Arial" panose="020B0604020202020204" pitchFamily="34" charset="0"/>
              <a:buChar char="•"/>
            </a:pPr>
            <a:r>
              <a:rPr lang="en-IN" sz="1800" dirty="0" smtClean="0"/>
              <a:t>Personalized </a:t>
            </a:r>
            <a:r>
              <a:rPr lang="en-IN" sz="1800" dirty="0"/>
              <a:t>health recommendations</a:t>
            </a:r>
          </a:p>
          <a:p>
            <a:pPr marL="285750" indent="-285750">
              <a:buFont typeface="Arial" panose="020B0604020202020204" pitchFamily="34" charset="0"/>
              <a:buChar char="•"/>
            </a:pPr>
            <a:r>
              <a:rPr lang="en-IN" sz="1800" dirty="0" smtClean="0"/>
              <a:t>Predictive </a:t>
            </a:r>
            <a:r>
              <a:rPr lang="en-IN" sz="1800" dirty="0"/>
              <a:t>AQI alerts</a:t>
            </a:r>
          </a:p>
          <a:p>
            <a:pPr marL="285750" indent="-285750">
              <a:buFont typeface="Arial" panose="020B0604020202020204" pitchFamily="34" charset="0"/>
              <a:buChar char="•"/>
            </a:pPr>
            <a:r>
              <a:rPr lang="en-IN" sz="1800" dirty="0" smtClean="0"/>
              <a:t>RAG-powered </a:t>
            </a:r>
            <a:r>
              <a:rPr lang="en-IN" sz="1800" dirty="0"/>
              <a:t>trustworthy responses</a:t>
            </a:r>
          </a:p>
          <a:p>
            <a:pPr marL="285750" indent="-285750">
              <a:buFont typeface="Arial" panose="020B0604020202020204" pitchFamily="34" charset="0"/>
              <a:buChar char="•"/>
            </a:pPr>
            <a:r>
              <a:rPr lang="en-IN" sz="1800" dirty="0" smtClean="0"/>
              <a:t>Community </a:t>
            </a:r>
            <a:r>
              <a:rPr lang="en-IN" sz="1800" dirty="0"/>
              <a:t>awareness integration</a:t>
            </a:r>
          </a:p>
          <a:p>
            <a:pPr marL="285750" indent="-285750">
              <a:buFont typeface="Arial" panose="020B0604020202020204" pitchFamily="34" charset="0"/>
              <a:buChar char="•"/>
            </a:pPr>
            <a:r>
              <a:rPr lang="en-IN" sz="1800" dirty="0" smtClean="0"/>
              <a:t>Real-time </a:t>
            </a:r>
            <a:r>
              <a:rPr lang="en-IN" sz="1800" dirty="0"/>
              <a:t>environmental intelligence</a:t>
            </a:r>
          </a:p>
          <a:p>
            <a:pPr marL="285750" indent="-285750">
              <a:buFont typeface="Arial" panose="020B0604020202020204" pitchFamily="34" charset="0"/>
              <a:buChar char="•"/>
            </a:pPr>
            <a:r>
              <a:rPr lang="en-IN" sz="1800" dirty="0" smtClean="0"/>
              <a:t>Scalable </a:t>
            </a:r>
            <a:r>
              <a:rPr lang="en-IN" sz="1800" dirty="0"/>
              <a:t>IBM ecosystem deployment</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–https://github.com/sherinjijo/IBM-BVM-FDP</a:t>
            </a:r>
            <a:endParaRPr dirty="0"/>
          </a:p>
          <a:p>
            <a:pPr marL="0" marR="0" lvl="0" indent="0" algn="l" rtl="0">
              <a:lnSpc>
                <a:spcPct val="162162"/>
              </a:lnSpc>
              <a:spcBef>
                <a:spcPts val="0"/>
              </a:spcBef>
              <a:spcAft>
                <a:spcPts val="0"/>
              </a:spcAft>
              <a:buNone/>
            </a:pPr>
            <a:r>
              <a:rPr lang="en-US" sz="1850" b="1" i="0" u="none" strike="noStrike" cap="none" dirty="0" smtClean="0">
                <a:solidFill>
                  <a:srgbClr val="2B3541"/>
                </a:solidFill>
                <a:latin typeface="Times New Roman"/>
                <a:ea typeface="Times New Roman"/>
                <a:cs typeface="Times New Roman"/>
                <a:sym typeface="Times New Roman"/>
              </a:rPr>
              <a:t>Uploaded </a:t>
            </a:r>
            <a:r>
              <a:rPr lang="en-US" sz="1850" b="1" i="0" u="none" strike="noStrike" cap="none" dirty="0">
                <a:solidFill>
                  <a:srgbClr val="2B3541"/>
                </a:solidFill>
                <a:latin typeface="Times New Roman"/>
                <a:ea typeface="Times New Roman"/>
                <a:cs typeface="Times New Roman"/>
                <a:sym typeface="Times New Roman"/>
              </a:rPr>
              <a:t>following three files into </a:t>
            </a:r>
            <a:r>
              <a:rPr lang="en-US" sz="1850" b="1" i="0" u="none" strike="noStrike" cap="none" dirty="0" smtClean="0">
                <a:solidFill>
                  <a:srgbClr val="2B3541"/>
                </a:solidFill>
                <a:latin typeface="Times New Roman"/>
                <a:ea typeface="Times New Roman"/>
                <a:cs typeface="Times New Roman"/>
                <a:sym typeface="Times New Roman"/>
              </a:rPr>
              <a:t>my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r>
              <a:rPr lang="en-US" sz="1850" b="0" i="0" u="none" strike="noStrike" cap="none" dirty="0">
                <a:solidFill>
                  <a:srgbClr val="2B3541"/>
                </a:solidFill>
                <a:latin typeface="Times New Roman"/>
                <a:ea typeface="Times New Roman"/>
                <a:cs typeface="Times New Roman"/>
                <a:sym typeface="Times New Roman"/>
              </a:rPr>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file , 2) yourproblemstatement.pdf file  3) your projectpresntation.pptx file </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Font typeface="+mj-lt"/>
              <a:buAutoNum type="arabicPeriod"/>
            </a:pPr>
            <a:r>
              <a:rPr lang="en-IN" sz="2000" dirty="0" smtClean="0"/>
              <a:t>Integration </a:t>
            </a:r>
            <a:r>
              <a:rPr lang="en-IN" sz="2000" dirty="0"/>
              <a:t>with </a:t>
            </a:r>
            <a:r>
              <a:rPr lang="en-IN" sz="2000" dirty="0" err="1"/>
              <a:t>IoT</a:t>
            </a:r>
            <a:r>
              <a:rPr lang="en-IN" sz="2000" dirty="0"/>
              <a:t> Air Quality Sensors</a:t>
            </a:r>
          </a:p>
          <a:p>
            <a:pPr marL="457200" indent="-457200">
              <a:buFont typeface="+mj-lt"/>
              <a:buAutoNum type="arabicPeriod"/>
            </a:pPr>
            <a:r>
              <a:rPr lang="en-IN" sz="2000" dirty="0" smtClean="0"/>
              <a:t>Smart </a:t>
            </a:r>
            <a:r>
              <a:rPr lang="en-IN" sz="2000" dirty="0"/>
              <a:t>City Deployment</a:t>
            </a:r>
          </a:p>
          <a:p>
            <a:pPr marL="457200" indent="-457200">
              <a:buFont typeface="+mj-lt"/>
              <a:buAutoNum type="arabicPeriod"/>
            </a:pPr>
            <a:r>
              <a:rPr lang="en-IN" sz="2000" dirty="0" smtClean="0"/>
              <a:t>Wearable </a:t>
            </a:r>
            <a:r>
              <a:rPr lang="en-IN" sz="2000" dirty="0"/>
              <a:t>Health Monitoring Integration</a:t>
            </a:r>
          </a:p>
          <a:p>
            <a:pPr marL="457200" indent="-457200">
              <a:buFont typeface="+mj-lt"/>
              <a:buAutoNum type="arabicPeriod"/>
            </a:pPr>
            <a:r>
              <a:rPr lang="en-IN" sz="2000" dirty="0" smtClean="0"/>
              <a:t>Multilingual </a:t>
            </a:r>
            <a:r>
              <a:rPr lang="en-IN" sz="2000" dirty="0"/>
              <a:t>Voice Assistant</a:t>
            </a:r>
          </a:p>
          <a:p>
            <a:pPr marL="457200" indent="-457200">
              <a:buFont typeface="+mj-lt"/>
              <a:buAutoNum type="arabicPeriod"/>
            </a:pPr>
            <a:r>
              <a:rPr lang="en-IN" sz="2000" dirty="0" smtClean="0"/>
              <a:t>Advanced </a:t>
            </a:r>
            <a:r>
              <a:rPr lang="en-IN" sz="2000" dirty="0"/>
              <a:t>AI Forecasting Models</a:t>
            </a:r>
          </a:p>
          <a:p>
            <a:pPr marL="457200" indent="-457200">
              <a:buFont typeface="+mj-lt"/>
              <a:buAutoNum type="arabicPeriod"/>
            </a:pPr>
            <a:r>
              <a:rPr lang="en-IN" sz="2000" dirty="0" smtClean="0"/>
              <a:t>Regional </a:t>
            </a:r>
            <a:r>
              <a:rPr lang="en-IN" sz="2000" dirty="0"/>
              <a:t>Policy Recommendation Engine</a:t>
            </a: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476</Words>
  <Application>Microsoft Office PowerPoint</Application>
  <PresentationFormat>Widescreen</PresentationFormat>
  <Paragraphs>122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Vishal</cp:lastModifiedBy>
  <cp:revision>17</cp:revision>
  <dcterms:created xsi:type="dcterms:W3CDTF">2025-07-08T05:06:56Z</dcterms:created>
  <dcterms:modified xsi:type="dcterms:W3CDTF">2026-06-13T05:25:06Z</dcterms:modified>
</cp:coreProperties>
</file>